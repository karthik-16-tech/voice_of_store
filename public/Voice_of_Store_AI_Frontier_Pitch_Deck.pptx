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F"/>
          </a:solidFill>
          <a:ln>
            <a:solidFill>
              <a:srgbClr val="08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371600"/>
            <a:ext cx="5029200" cy="5029200"/>
          </a:xfrm>
          <a:prstGeom prst="ellipse">
            <a:avLst/>
          </a:prstGeom>
          <a:solidFill>
            <a:srgbClr val="101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778FF"/>
                </a:solidFill>
                <a:latin typeface="IBM Plex Mono"/>
              </a:defRPr>
            </a:pPr>
            <a:r>
              <a:t>AI FRONTIER CHALLENGE 2026  | 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4F6FC"/>
                </a:solidFill>
                <a:latin typeface="Space Grotesk"/>
              </a:defRPr>
            </a:pPr>
            <a:r>
              <a:t>VOICE OF STORE</a:t>
            </a:r>
          </a:p>
          <a:p>
            <a:pPr>
              <a:spcBef>
                <a:spcPts val="800"/>
              </a:spcBef>
              <a:defRPr sz="1300" i="1">
                <a:solidFill>
                  <a:srgbClr val="91C9FF"/>
                </a:solidFill>
                <a:latin typeface="Space Grotesk"/>
              </a:defRPr>
            </a:pPr>
            <a:r>
              <a:t>Hear the signal. Locate the problem. Drive the action.</a:t>
            </a:r>
          </a:p>
          <a:p>
            <a:pPr>
              <a:spcBef>
                <a:spcPts val="600"/>
              </a:spcBef>
              <a:defRPr sz="1200">
                <a:solidFill>
                  <a:srgbClr val="939BAD"/>
                </a:solidFill>
                <a:latin typeface="Inter"/>
              </a:defRPr>
            </a:pPr>
            <a:r>
              <a:t>AI-Powered Retail Intelligence &amp; Autonomous Store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4206240" cy="2011680"/>
          </a:xfrm>
          <a:prstGeom prst="roundRect">
            <a:avLst/>
          </a:prstGeom>
          <a:solidFill>
            <a:srgbClr val="171C26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1C9FF"/>
                </a:solidFill>
                <a:latin typeface="IBM Plex Mono"/>
              </a:defRPr>
            </a:pPr>
            <a:r>
              <a:t>TRACK                :  Enterprise AI &amp; Autonomous Retail Operations</a:t>
            </a:r>
          </a:p>
          <a:p>
            <a:pPr>
              <a:spcBef>
                <a:spcPts val="400"/>
              </a:spcBef>
              <a:defRPr sz="950">
                <a:solidFill>
                  <a:srgbClr val="F4F6FC"/>
                </a:solidFill>
                <a:latin typeface="IBM Plex Mono"/>
              </a:defRPr>
            </a:pPr>
            <a:r>
              <a:t>TEAM NAME            :  [Enter Team Name]</a:t>
            </a:r>
          </a:p>
          <a:p>
            <a:pPr>
              <a:spcBef>
                <a:spcPts val="400"/>
              </a:spcBef>
              <a:defRPr sz="950">
                <a:solidFill>
                  <a:srgbClr val="F4F6FC"/>
                </a:solidFill>
                <a:latin typeface="IBM Plex Mono"/>
              </a:defRPr>
            </a:pPr>
            <a:r>
              <a:t>TEAM LEADER          :  [Enter Leader Name]</a:t>
            </a:r>
          </a:p>
          <a:p>
            <a:pPr>
              <a:spcBef>
                <a:spcPts val="400"/>
              </a:spcBef>
              <a:defRPr sz="950">
                <a:solidFill>
                  <a:srgbClr val="F4F6FC"/>
                </a:solidFill>
                <a:latin typeface="IBM Plex Mono"/>
              </a:defRPr>
            </a:pPr>
            <a:r>
              <a:t>SUBMISSION DATE      :  8/7/2026  •  ROUND 1</a:t>
            </a:r>
          </a:p>
          <a:p>
            <a:pPr>
              <a:spcBef>
                <a:spcPts val="400"/>
              </a:spcBef>
              <a:defRPr sz="950">
                <a:solidFill>
                  <a:srgbClr val="F4F6FC"/>
                </a:solidFill>
                <a:latin typeface="IBM Plex Mono"/>
              </a:defRPr>
            </a:pPr>
            <a:r>
              <a:t>INTELLIGENCE ENGINE  :  Gemini 2.0 Flash  +  Spline 3D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822960"/>
            <a:ext cx="6217920" cy="512064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4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vtools_test_17923266725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868680"/>
            <a:ext cx="6126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F"/>
          </a:solidFill>
          <a:ln>
            <a:solidFill>
              <a:srgbClr val="08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1C9FF"/>
                </a:solidFill>
                <a:latin typeface="IBM Plex Mono"/>
              </a:defRPr>
            </a:pPr>
            <a:r>
              <a:t>VOX / RETAIL INTELLIGENCE  •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C"/>
                </a:solidFill>
                <a:latin typeface="Space Grotesk"/>
              </a:defRPr>
            </a:pPr>
            <a:r>
              <a:t>Critical problems are hiding in everyday feedback.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62D3C"/>
          </a:solidFill>
          <a:ln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3657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D6D"/>
                </a:solidFill>
                <a:latin typeface="IBM Plex Mono"/>
              </a:defRPr>
            </a:pPr>
            <a:r>
              <a:t>FAILURE VECTOR 01</a:t>
            </a:r>
          </a:p>
          <a:p>
            <a:pPr>
              <a:spcBef>
                <a:spcPts val="600"/>
              </a:spcBef>
              <a:defRPr sz="1700" b="1">
                <a:solidFill>
                  <a:srgbClr val="F4F6FC"/>
                </a:solidFill>
                <a:latin typeface="Space Grotesk"/>
              </a:defRPr>
            </a:pPr>
            <a:r>
              <a:t>SIGNAL OVERLOAD</a:t>
            </a:r>
          </a:p>
          <a:p>
            <a:pPr>
              <a:spcBef>
                <a:spcPts val="1000"/>
              </a:spcBef>
              <a:defRPr sz="1100">
                <a:solidFill>
                  <a:srgbClr val="939BAD"/>
                </a:solidFill>
                <a:latin typeface="Inter"/>
              </a:defRPr>
            </a:pPr>
            <a:r>
              <a:t>Thousands of fragmented customer reviews, app ratings, cashier tickets, staff WhatsApp notes, and shift logs flood in every hour.</a:t>
            </a:r>
          </a:p>
          <a:p>
            <a:pPr>
              <a:spcBef>
                <a:spcPts val="800"/>
              </a:spcBef>
              <a:defRPr sz="1050">
                <a:solidFill>
                  <a:srgbClr val="BEC6D7"/>
                </a:solidFill>
                <a:latin typeface="Inter"/>
              </a:defRPr>
            </a:pPr>
            <a:r>
              <a:t>Multilingual noise, slang, typos, and high volume bury critical operational issues before corporate teams notice.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3657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0020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D6D"/>
                </a:solidFill>
                <a:latin typeface="IBM Plex Mono"/>
              </a:defRPr>
            </a:pPr>
            <a:r>
              <a:t>FAILURE VECTOR 02</a:t>
            </a:r>
          </a:p>
          <a:p>
            <a:pPr>
              <a:spcBef>
                <a:spcPts val="600"/>
              </a:spcBef>
              <a:defRPr sz="1700" b="1">
                <a:solidFill>
                  <a:srgbClr val="F4F6FC"/>
                </a:solidFill>
                <a:latin typeface="Space Grotesk"/>
              </a:defRPr>
            </a:pPr>
            <a:r>
              <a:t>OWNERSHIP GAP</a:t>
            </a:r>
          </a:p>
          <a:p>
            <a:pPr>
              <a:spcBef>
                <a:spcPts val="1000"/>
              </a:spcBef>
              <a:defRPr sz="1100">
                <a:solidFill>
                  <a:srgbClr val="939BAD"/>
                </a:solidFill>
                <a:latin typeface="Inter"/>
              </a:defRPr>
            </a:pPr>
            <a:r>
              <a:t>Customer complaints are disconnected from the physical store, affected equipment, or responsible department.</a:t>
            </a:r>
          </a:p>
          <a:p>
            <a:pPr>
              <a:spcBef>
                <a:spcPts val="800"/>
              </a:spcBef>
              <a:defRPr sz="1050">
                <a:solidFill>
                  <a:srgbClr val="BEC6D7"/>
                </a:solidFill>
                <a:latin typeface="Inter"/>
              </a:defRPr>
            </a:pPr>
            <a:r>
              <a:t>Head office cannot tell if 'warm milk' is a Facilities failure (Freezer C4) or an Inventory delay (unstocked shelves).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365760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0020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D6D"/>
                </a:solidFill>
                <a:latin typeface="IBM Plex Mono"/>
              </a:defRPr>
            </a:pPr>
            <a:r>
              <a:t>FAILURE VECTOR 03</a:t>
            </a:r>
          </a:p>
          <a:p>
            <a:pPr>
              <a:spcBef>
                <a:spcPts val="600"/>
              </a:spcBef>
              <a:defRPr sz="1700" b="1">
                <a:solidFill>
                  <a:srgbClr val="F4F6FC"/>
                </a:solidFill>
                <a:latin typeface="Space Grotesk"/>
              </a:defRPr>
            </a:pPr>
            <a:r>
              <a:t>DELAYED RESOLUTION</a:t>
            </a:r>
          </a:p>
          <a:p>
            <a:pPr>
              <a:spcBef>
                <a:spcPts val="1000"/>
              </a:spcBef>
              <a:defRPr sz="1100">
                <a:solidFill>
                  <a:srgbClr val="939BAD"/>
                </a:solidFill>
                <a:latin typeface="Inter"/>
              </a:defRPr>
            </a:pPr>
            <a:r>
              <a:t>Maintenance expenses, technician dispatches, and compliance outcomes remain isolated in back-office accounting.</a:t>
            </a:r>
          </a:p>
          <a:p>
            <a:pPr>
              <a:spcBef>
                <a:spcPts val="800"/>
              </a:spcBef>
              <a:defRPr sz="1050">
                <a:solidFill>
                  <a:srgbClr val="BEC6D7"/>
                </a:solidFill>
                <a:latin typeface="Inter"/>
              </a:defRPr>
            </a:pPr>
            <a:r>
              <a:t>Leadership cannot measure the real financial impact of store defects until end-of-quarter financial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171C26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1C9FF"/>
                </a:solidFill>
                <a:latin typeface="IBM Plex Mono"/>
              </a:defRPr>
            </a:pPr>
            <a:r>
              <a:t>REAL-WORLD COST OF INACTION  •  CRITICAL VECTORS IDENTIFIED ACROSS 42 STORES</a:t>
            </a:r>
          </a:p>
          <a:p>
            <a:pPr>
              <a:spcBef>
                <a:spcPts val="400"/>
              </a:spcBef>
              <a:defRPr sz="1000">
                <a:solidFill>
                  <a:srgbClr val="F4F6FC"/>
                </a:solidFill>
                <a:latin typeface="Inter"/>
              </a:defRPr>
            </a:pPr>
            <a:r>
              <a:t>• Broken Freezer Solenoid: +4°C temp spike spoils $14k dairy cargo  |  • Allergen Label Mismatch: Almond batch #B-882 risks fatal anaphylaxis</a:t>
            </a:r>
            <a:br/>
            <a:r>
              <a:t>• POS Barcode Scanner Glitch: 22-min queues lose $3.2k/hr throughput  |  • Aisle Spill Slip Hazard: OSHA citation &amp; customer 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F"/>
          </a:solidFill>
          <a:ln>
            <a:solidFill>
              <a:srgbClr val="08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1C9FF"/>
                </a:solidFill>
                <a:latin typeface="IBM Plex Mono"/>
              </a:defRPr>
            </a:pPr>
            <a:r>
              <a:t>VOX / RETAIL INTELLIGENCE  •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C"/>
                </a:solidFill>
                <a:latin typeface="Space Grotesk"/>
              </a:defRPr>
            </a:pPr>
            <a:r>
              <a:t>One intelligence layer. Every store. Faster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62D3C"/>
          </a:solidFill>
          <a:ln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583680" cy="393192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4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itial_page_view_17923265337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49224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63040"/>
            <a:ext cx="3962095" cy="1243584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536192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778FF"/>
                </a:solidFill>
                <a:latin typeface="IBM Plex Mono"/>
              </a:defRPr>
            </a:pPr>
            <a:r>
              <a:t>01  •  VOICE AI COPILOT</a:t>
            </a:r>
          </a:p>
          <a:p>
            <a:pPr>
              <a:spcBef>
                <a:spcPts val="200"/>
              </a:spcBef>
              <a:defRPr sz="1200" b="1">
                <a:solidFill>
                  <a:srgbClr val="F4F6FC"/>
                </a:solidFill>
                <a:latin typeface="Space Grotesk"/>
              </a:defRPr>
            </a:pPr>
            <a:r>
              <a:t>Gemini 2.0 Flash Conversational Agent</a:t>
            </a:r>
          </a:p>
          <a:p>
            <a:pPr>
              <a:spcBef>
                <a:spcPts val="300"/>
              </a:spcBef>
              <a:defRPr sz="950">
                <a:solidFill>
                  <a:srgbClr val="939BAD"/>
                </a:solidFill>
                <a:latin typeface="Inter"/>
              </a:defRPr>
            </a:pPr>
            <a:r>
              <a:t>Hands-free operational briefings, dynamic time greetings ('Good morning, Sir'), 2-3 sentence executive triage, real-time telemetry refresh.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816352"/>
            <a:ext cx="3962095" cy="1243584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889504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1C9FF"/>
                </a:solidFill>
                <a:latin typeface="IBM Plex Mono"/>
              </a:defRPr>
            </a:pPr>
            <a:r>
              <a:t>02  •  3D STORE DIGITAL TWIN</a:t>
            </a:r>
          </a:p>
          <a:p>
            <a:pPr>
              <a:spcBef>
                <a:spcPts val="200"/>
              </a:spcBef>
              <a:defRPr sz="1200" b="1">
                <a:solidFill>
                  <a:srgbClr val="F4F6FC"/>
                </a:solidFill>
                <a:latin typeface="Space Grotesk"/>
              </a:defRPr>
            </a:pPr>
            <a:r>
              <a:t>Spatial Physical-to-Digital Mapping</a:t>
            </a:r>
          </a:p>
          <a:p>
            <a:pPr>
              <a:spcBef>
                <a:spcPts val="300"/>
              </a:spcBef>
              <a:defRPr sz="950">
                <a:solidFill>
                  <a:srgbClr val="939BAD"/>
                </a:solidFill>
                <a:latin typeface="Inter"/>
              </a:defRPr>
            </a:pPr>
            <a:r>
              <a:t>Visualizes 3D store interior, department zones (Bakery, Dairy, POS, HVAC), and live flashing incident markers with IoT sensor beacons.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169664"/>
            <a:ext cx="3962095" cy="1243584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24281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8C79FF"/>
                </a:solidFill>
                <a:latin typeface="IBM Plex Mono"/>
              </a:defRPr>
            </a:pPr>
            <a:r>
              <a:t>03  •  FEEDBACK-TO-RESOLUTION ENGINE</a:t>
            </a:r>
          </a:p>
          <a:p>
            <a:pPr>
              <a:spcBef>
                <a:spcPts val="200"/>
              </a:spcBef>
              <a:defRPr sz="1200" b="1">
                <a:solidFill>
                  <a:srgbClr val="F4F6FC"/>
                </a:solidFill>
                <a:latin typeface="Space Grotesk"/>
              </a:defRPr>
            </a:pPr>
            <a:r>
              <a:t>Closed-Loop Sector Triage</a:t>
            </a:r>
          </a:p>
          <a:p>
            <a:pPr>
              <a:spcBef>
                <a:spcPts val="300"/>
              </a:spcBef>
              <a:defRPr sz="950">
                <a:solidFill>
                  <a:srgbClr val="939BAD"/>
                </a:solidFill>
                <a:latin typeface="Inter"/>
              </a:defRPr>
            </a:pPr>
            <a:r>
              <a:t>Classifies feedback into 4 sectors, prioritizes severity (Critical/High), routes to designated leads, and tracks itemized repair expenses.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728655" cy="777240"/>
          </a:xfrm>
          <a:prstGeom prst="roundRect">
            <a:avLst/>
          </a:prstGeom>
          <a:solidFill>
            <a:srgbClr val="171C26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78FF"/>
                </a:solidFill>
                <a:latin typeface="IBM Plex Mono"/>
              </a:defRPr>
            </a:pPr>
            <a:r>
              <a:t>CLOSED-LOOP AUTONOMOUS PIPELINE</a:t>
            </a:r>
          </a:p>
          <a:p>
            <a:pPr>
              <a:spcBef>
                <a:spcPts val="300"/>
              </a:spcBef>
              <a:defRPr sz="1100" b="1">
                <a:solidFill>
                  <a:srgbClr val="F4F6FC"/>
                </a:solidFill>
                <a:latin typeface="Space Grotesk"/>
              </a:defRPr>
            </a:pPr>
            <a:r>
              <a:t>LISTEN (Omni-Channel Voice)  ──►  CLASSIFY (Gemini NLP)  ──►  LOCATE (3D Twin)  ──►  ROUTE (Sector Lead)  ──►  RESOLVE (Runbook)  ──►  REPORT (Vector PDF)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F"/>
          </a:solidFill>
          <a:ln>
            <a:solidFill>
              <a:srgbClr val="08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1C9FF"/>
                </a:solidFill>
                <a:latin typeface="IBM Plex Mono"/>
              </a:defRPr>
            </a:pPr>
            <a:r>
              <a:t>VOX / RETAIL INTELLIGENCE  •  DESIGN STEPS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C"/>
                </a:solidFill>
                <a:latin typeface="Space Grotesk"/>
              </a:defRPr>
            </a:pPr>
            <a:r>
              <a:t>Four-tier architectural model with six-stage development lifecycle.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62D3C"/>
          </a:solidFill>
          <a:ln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949440" cy="105156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17904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778FF"/>
                </a:solidFill>
                <a:latin typeface="IBM Plex Mono"/>
              </a:defRPr>
            </a:pPr>
            <a:r>
              <a:t>TIER 1  •  PRESENTATION LAYER</a:t>
            </a:r>
          </a:p>
          <a:p>
            <a:pPr>
              <a:spcBef>
                <a:spcPts val="200"/>
              </a:spcBef>
              <a:defRPr sz="1100" b="1">
                <a:solidFill>
                  <a:srgbClr val="F4F6FC"/>
                </a:solidFill>
                <a:latin typeface="Space Grotesk"/>
              </a:defRPr>
            </a:pPr>
            <a:r>
              <a:t>React 19  •  TypeScript  •  Tailwind CSS  •  Vite  •  TanStack Router</a:t>
            </a:r>
          </a:p>
          <a:p>
            <a:pPr>
              <a:spcBef>
                <a:spcPts val="200"/>
              </a:spcBef>
              <a:defRPr sz="950">
                <a:solidFill>
                  <a:srgbClr val="939BAD"/>
                </a:solidFill>
                <a:latin typeface="Inter"/>
              </a:defRPr>
            </a:pPr>
            <a:r>
              <a:t>AI Copilot Voice Interface, Spline 3D Scene Viewport, Retail Operations Engine, Full-White PDF Document Modal.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6949440" cy="105156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60904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1C9FF"/>
                </a:solidFill>
                <a:latin typeface="IBM Plex Mono"/>
              </a:defRPr>
            </a:pPr>
            <a:r>
              <a:t>TIER 2  •  INTELLIGENCE &amp; CONVERSATION</a:t>
            </a:r>
          </a:p>
          <a:p>
            <a:pPr>
              <a:spcBef>
                <a:spcPts val="200"/>
              </a:spcBef>
              <a:defRPr sz="1100" b="1">
                <a:solidFill>
                  <a:srgbClr val="F4F6FC"/>
                </a:solidFill>
                <a:latin typeface="Space Grotesk"/>
              </a:defRPr>
            </a:pPr>
            <a:r>
              <a:t>Google Gemini 2.0 Flash API  •  Web Speech Recognition  •  SpeechSynthesis TTS</a:t>
            </a:r>
          </a:p>
          <a:p>
            <a:pPr>
              <a:spcBef>
                <a:spcPts val="200"/>
              </a:spcBef>
              <a:defRPr sz="950">
                <a:solidFill>
                  <a:srgbClr val="939BAD"/>
                </a:solidFill>
                <a:latin typeface="Inter"/>
              </a:defRPr>
            </a:pPr>
            <a:r>
              <a:t>2-3 Sentence J.A.R.V.I.S. persona, audio regex normalizer, dynamic time greetings, automated incident severity triage.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6949440" cy="105156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03903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8C79FF"/>
                </a:solidFill>
                <a:latin typeface="IBM Plex Mono"/>
              </a:defRPr>
            </a:pPr>
            <a:r>
              <a:t>TIER 3  •  SPATIAL TWIN &amp; INCIDENT TELEMETRY</a:t>
            </a:r>
          </a:p>
          <a:p>
            <a:pPr>
              <a:spcBef>
                <a:spcPts val="200"/>
              </a:spcBef>
              <a:defRPr sz="1100" b="1">
                <a:solidFill>
                  <a:srgbClr val="F4F6FC"/>
                </a:solidFill>
                <a:latin typeface="Space Grotesk"/>
              </a:defRPr>
            </a:pPr>
            <a:r>
              <a:t>Spline 3D WebGL Engine  •  Three.js / Drei  •  Spatial Sector Nodes</a:t>
            </a:r>
          </a:p>
          <a:p>
            <a:pPr>
              <a:spcBef>
                <a:spcPts val="200"/>
              </a:spcBef>
              <a:defRPr sz="950">
                <a:solidFill>
                  <a:srgbClr val="939BAD"/>
                </a:solidFill>
                <a:latin typeface="Inter"/>
              </a:defRPr>
            </a:pPr>
            <a:r>
              <a:t>Physical store floor layout, equipment beacon coordinates (Freezer C4, Printer #B2, POS Switch 04), IoT telemetry pins.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6949440" cy="105156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DD4BF"/>
                </a:solidFill>
                <a:latin typeface="IBM Plex Mono"/>
              </a:defRPr>
            </a:pPr>
            <a:r>
              <a:t>TIER 4  •  REPORTING &amp; EXPENSE AUDIT</a:t>
            </a:r>
          </a:p>
          <a:p>
            <a:pPr>
              <a:spcBef>
                <a:spcPts val="200"/>
              </a:spcBef>
              <a:defRPr sz="1100" b="1">
                <a:solidFill>
                  <a:srgbClr val="F4F6FC"/>
                </a:solidFill>
                <a:latin typeface="Space Grotesk"/>
              </a:defRPr>
            </a:pPr>
            <a:r>
              <a:t>A4 Vector Print Engine  •  DOM Print Isolation  •  FSMA &amp; OSHA Sign-Off</a:t>
            </a:r>
          </a:p>
          <a:p>
            <a:pPr>
              <a:spcBef>
                <a:spcPts val="200"/>
              </a:spcBef>
              <a:defRPr sz="950">
                <a:solidFill>
                  <a:srgbClr val="939BAD"/>
                </a:solidFill>
                <a:latin typeface="Inter"/>
              </a:defRPr>
            </a:pPr>
            <a:r>
              <a:t>Cadence aggregation (Daily 412, Weekly 2,840, Monthly 12,840), itemized technician repair expenses ($380-$1,850).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463040"/>
            <a:ext cx="3596335" cy="4480560"/>
          </a:xfrm>
          <a:prstGeom prst="roundRect">
            <a:avLst/>
          </a:prstGeom>
          <a:solidFill>
            <a:srgbClr val="171C26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60020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78FF"/>
                </a:solidFill>
                <a:latin typeface="IBM Plex Mono"/>
              </a:defRPr>
            </a:pPr>
            <a:r>
              <a:t>SIX-STAGE DEVELOPMENT LIFECYCLE</a:t>
            </a:r>
          </a:p>
          <a:p>
            <a:pPr>
              <a:spcBef>
                <a:spcPts val="900"/>
              </a:spcBef>
              <a:defRPr sz="1050" b="1">
                <a:solidFill>
                  <a:srgbClr val="F4F6FC"/>
                </a:solidFill>
                <a:latin typeface="Space Grotesk"/>
              </a:defRPr>
            </a:pPr>
            <a:r>
              <a:t>STAGE 01  •  UX Foundation &amp; Liquid Glass</a:t>
            </a:r>
          </a:p>
          <a:p>
            <a:pPr>
              <a:defRPr sz="900">
                <a:solidFill>
                  <a:srgbClr val="939BAD"/>
                </a:solidFill>
                <a:latin typeface="Inter"/>
              </a:defRPr>
            </a:pPr>
            <a:r>
              <a:t>Designed token system, ambient glows, frosted cards.</a:t>
            </a:r>
          </a:p>
          <a:p>
            <a:pPr>
              <a:spcBef>
                <a:spcPts val="900"/>
              </a:spcBef>
              <a:defRPr sz="1050" b="1">
                <a:solidFill>
                  <a:srgbClr val="F4F6FC"/>
                </a:solidFill>
                <a:latin typeface="Space Grotesk"/>
              </a:defRPr>
            </a:pPr>
            <a:r>
              <a:t>STAGE 02  •  Domain &amp; Incident Modeling</a:t>
            </a:r>
          </a:p>
          <a:p>
            <a:pPr>
              <a:defRPr sz="900">
                <a:solidFill>
                  <a:srgbClr val="939BAD"/>
                </a:solidFill>
                <a:latin typeface="Inter"/>
              </a:defRPr>
            </a:pPr>
            <a:r>
              <a:t>Defined 4 feedback categories, 42-store schema.</a:t>
            </a:r>
          </a:p>
          <a:p>
            <a:pPr>
              <a:spcBef>
                <a:spcPts val="900"/>
              </a:spcBef>
              <a:defRPr sz="1050" b="1">
                <a:solidFill>
                  <a:srgbClr val="F4F6FC"/>
                </a:solidFill>
                <a:latin typeface="Space Grotesk"/>
              </a:defRPr>
            </a:pPr>
            <a:r>
              <a:t>STAGE 03  •  AI Copilot Engineering</a:t>
            </a:r>
          </a:p>
          <a:p>
            <a:pPr>
              <a:defRPr sz="900">
                <a:solidFill>
                  <a:srgbClr val="939BAD"/>
                </a:solidFill>
                <a:latin typeface="Inter"/>
              </a:defRPr>
            </a:pPr>
            <a:r>
              <a:t>Tuned Gemini 2.0 Flash prompt, voice in/out pipeline.</a:t>
            </a:r>
          </a:p>
          <a:p>
            <a:pPr>
              <a:spcBef>
                <a:spcPts val="900"/>
              </a:spcBef>
              <a:defRPr sz="1050" b="1">
                <a:solidFill>
                  <a:srgbClr val="F4F6FC"/>
                </a:solidFill>
                <a:latin typeface="Space Grotesk"/>
              </a:defRPr>
            </a:pPr>
            <a:r>
              <a:t>STAGE 04  •  3D Spatial Twin Integration</a:t>
            </a:r>
          </a:p>
          <a:p>
            <a:pPr>
              <a:defRPr sz="900">
                <a:solidFill>
                  <a:srgbClr val="939BAD"/>
                </a:solidFill>
                <a:latin typeface="Inter"/>
              </a:defRPr>
            </a:pPr>
            <a:r>
              <a:t>Mapped store floor, orbital Spline viewer, IoT pins.</a:t>
            </a:r>
          </a:p>
          <a:p>
            <a:pPr>
              <a:spcBef>
                <a:spcPts val="900"/>
              </a:spcBef>
              <a:defRPr sz="1050" b="1">
                <a:solidFill>
                  <a:srgbClr val="F4F6FC"/>
                </a:solidFill>
                <a:latin typeface="Space Grotesk"/>
              </a:defRPr>
            </a:pPr>
            <a:r>
              <a:t>STAGE 05  •  Vector PDF Audit Engine</a:t>
            </a:r>
          </a:p>
          <a:p>
            <a:pPr>
              <a:defRPr sz="900">
                <a:solidFill>
                  <a:srgbClr val="939BAD"/>
                </a:solidFill>
                <a:latin typeface="Inter"/>
              </a:defRPr>
            </a:pPr>
            <a:r>
              <a:t>Built full-white A4 print document with expense breakdown.</a:t>
            </a:r>
          </a:p>
          <a:p>
            <a:pPr>
              <a:spcBef>
                <a:spcPts val="900"/>
              </a:spcBef>
              <a:defRPr sz="1050" b="1">
                <a:solidFill>
                  <a:srgbClr val="F4F6FC"/>
                </a:solidFill>
                <a:latin typeface="Space Grotesk"/>
              </a:defRPr>
            </a:pPr>
            <a:r>
              <a:t>STAGE 06  •  Cross-Route Integration</a:t>
            </a:r>
          </a:p>
          <a:p>
            <a:pPr>
              <a:defRPr sz="900">
                <a:solidFill>
                  <a:srgbClr val="939BAD"/>
                </a:solidFill>
                <a:latin typeface="Inter"/>
              </a:defRPr>
            </a:pPr>
            <a:r>
              <a:t>Unified /dashboard, /app-dashboard, and /admin routes.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081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C9FF"/>
                </a:solidFill>
                <a:latin typeface="IBM Plex Mono"/>
              </a:defRPr>
            </a:pPr>
            <a:r>
              <a:t>PROVEN TECH STACK:  React 19  |  TypeScript  |  Vite  |  Tailwind CSS  |  Google Gemini 2.0 Flash  |  Spline WebGL  |  Web Speech API  |  TanStack 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F"/>
          </a:solidFill>
          <a:ln>
            <a:solidFill>
              <a:srgbClr val="08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1C9FF"/>
                </a:solidFill>
                <a:latin typeface="IBM Plex Mono"/>
              </a:defRPr>
            </a:pPr>
            <a:r>
              <a:t>VOX / RETAIL INTELLIGENCE  •  CHALLENGES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C"/>
                </a:solidFill>
                <a:latin typeface="Space Grotesk"/>
              </a:defRPr>
            </a:pPr>
            <a:r>
              <a:t>Three critical operational barriers solved through intelligent automation.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62D3C"/>
          </a:solidFill>
          <a:ln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93776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D6D"/>
                </a:solidFill>
                <a:latin typeface="IBM Plex Mono"/>
              </a:defRPr>
            </a:pPr>
            <a:r>
              <a:t>CHALLENGE 01</a:t>
            </a:r>
          </a:p>
          <a:p>
            <a:pPr>
              <a:spcBef>
                <a:spcPts val="400"/>
              </a:spcBef>
              <a:defRPr sz="1700" b="1">
                <a:solidFill>
                  <a:srgbClr val="F4F6FC"/>
                </a:solidFill>
                <a:latin typeface="Space Grotesk"/>
              </a:defRPr>
            </a:pPr>
            <a:r>
              <a:t>NOISE &amp; VOLUME</a:t>
            </a:r>
          </a:p>
          <a:p>
            <a:pPr>
              <a:spcBef>
                <a:spcPts val="1200"/>
              </a:spcBef>
              <a:defRPr sz="850" b="1">
                <a:solidFill>
                  <a:srgbClr val="FF4D6D"/>
                </a:solidFill>
                <a:latin typeface="IBM Plex Mono"/>
              </a:defRPr>
            </a:pPr>
            <a:r>
              <a:t>PROBLEM:</a:t>
            </a:r>
          </a:p>
          <a:p>
            <a:pPr>
              <a:spcBef>
                <a:spcPts val="300"/>
              </a:spcBef>
              <a:defRPr sz="1000">
                <a:solidFill>
                  <a:srgbClr val="939BAD"/>
                </a:solidFill>
                <a:latin typeface="Inter"/>
              </a:defRPr>
            </a:pPr>
            <a:r>
              <a:t>Over 2,800+ customer and staff comments flood head office weekly in multiple languages, slang, and formats. Critical food safety and compliance failures are buried under minor product complaints.</a:t>
            </a:r>
          </a:p>
          <a:p>
            <a:pPr>
              <a:spcBef>
                <a:spcPts val="1400"/>
              </a:spcBef>
              <a:defRPr sz="850" b="1">
                <a:solidFill>
                  <a:srgbClr val="91C9FF"/>
                </a:solidFill>
                <a:latin typeface="IBM Plex Mono"/>
              </a:defRPr>
            </a:pPr>
            <a:r>
              <a:t>MITIGATION:</a:t>
            </a:r>
          </a:p>
          <a:p>
            <a:pPr>
              <a:spcBef>
                <a:spcPts val="300"/>
              </a:spcBef>
              <a:defRPr sz="1000">
                <a:solidFill>
                  <a:srgbClr val="F4F6FC"/>
                </a:solidFill>
                <a:latin typeface="Inter"/>
              </a:defRPr>
            </a:pPr>
            <a:r>
              <a:t>Gemini 2.0 Flash NLP parses unstructured text instantly, triaging feedback into 4 operational sectors with automated Critical/High severity tags and 100% evidence preservation.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93776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D6D"/>
                </a:solidFill>
                <a:latin typeface="IBM Plex Mono"/>
              </a:defRPr>
            </a:pPr>
            <a:r>
              <a:t>CHALLENGE 02</a:t>
            </a:r>
          </a:p>
          <a:p>
            <a:pPr>
              <a:spcBef>
                <a:spcPts val="400"/>
              </a:spcBef>
              <a:defRPr sz="1700" b="1">
                <a:solidFill>
                  <a:srgbClr val="F4F6FC"/>
                </a:solidFill>
                <a:latin typeface="Space Grotesk"/>
              </a:defRPr>
            </a:pPr>
            <a:r>
              <a:t>ATTRIBUTION &amp; OWNERSHIP</a:t>
            </a:r>
          </a:p>
          <a:p>
            <a:pPr>
              <a:spcBef>
                <a:spcPts val="1200"/>
              </a:spcBef>
              <a:defRPr sz="850" b="1">
                <a:solidFill>
                  <a:srgbClr val="FF4D6D"/>
                </a:solidFill>
                <a:latin typeface="IBM Plex Mono"/>
              </a:defRPr>
            </a:pPr>
            <a:r>
              <a:t>PROBLEM:</a:t>
            </a:r>
          </a:p>
          <a:p>
            <a:pPr>
              <a:spcBef>
                <a:spcPts val="300"/>
              </a:spcBef>
              <a:defRPr sz="1000">
                <a:solidFill>
                  <a:srgbClr val="939BAD"/>
                </a:solidFill>
                <a:latin typeface="Inter"/>
              </a:defRPr>
            </a:pPr>
            <a:r>
              <a:t>Customers complain about symptoms ('warm milk', 'slow checkout') rather than root causes. Without physical equipment mapping, teams play blame games between Store Ops, Facilities, and IT.</a:t>
            </a:r>
          </a:p>
          <a:p>
            <a:pPr>
              <a:spcBef>
                <a:spcPts val="1400"/>
              </a:spcBef>
              <a:defRPr sz="850" b="1">
                <a:solidFill>
                  <a:srgbClr val="91C9FF"/>
                </a:solidFill>
                <a:latin typeface="IBM Plex Mono"/>
              </a:defRPr>
            </a:pPr>
            <a:r>
              <a:t>MITIGATION:</a:t>
            </a:r>
          </a:p>
          <a:p>
            <a:pPr>
              <a:spcBef>
                <a:spcPts val="300"/>
              </a:spcBef>
              <a:defRPr sz="1000">
                <a:solidFill>
                  <a:srgbClr val="F4F6FC"/>
                </a:solidFill>
                <a:latin typeface="Inter"/>
              </a:defRPr>
            </a:pPr>
            <a:r>
              <a:t>Direct 1-to-1 correlation matrix connects grievances to physical store assets (Freezer C4, Printer #B2, Switch 04), visually located in the 3D twin with designated management owners.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93776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D6D"/>
                </a:solidFill>
                <a:latin typeface="IBM Plex Mono"/>
              </a:defRPr>
            </a:pPr>
            <a:r>
              <a:t>CHALLENGE 03</a:t>
            </a:r>
          </a:p>
          <a:p>
            <a:pPr>
              <a:spcBef>
                <a:spcPts val="400"/>
              </a:spcBef>
              <a:defRPr sz="1700" b="1">
                <a:solidFill>
                  <a:srgbClr val="F4F6FC"/>
                </a:solidFill>
                <a:latin typeface="Space Grotesk"/>
              </a:defRPr>
            </a:pPr>
            <a:r>
              <a:t>FINANCIAL BLIND SPOTS</a:t>
            </a:r>
          </a:p>
          <a:p>
            <a:pPr>
              <a:spcBef>
                <a:spcPts val="1200"/>
              </a:spcBef>
              <a:defRPr sz="850" b="1">
                <a:solidFill>
                  <a:srgbClr val="FF4D6D"/>
                </a:solidFill>
                <a:latin typeface="IBM Plex Mono"/>
              </a:defRPr>
            </a:pPr>
            <a:r>
              <a:t>PROBLEM:</a:t>
            </a:r>
          </a:p>
          <a:p>
            <a:pPr>
              <a:spcBef>
                <a:spcPts val="300"/>
              </a:spcBef>
              <a:defRPr sz="1000">
                <a:solidFill>
                  <a:srgbClr val="939BAD"/>
                </a:solidFill>
                <a:latin typeface="Inter"/>
              </a:defRPr>
            </a:pPr>
            <a:r>
              <a:t>Technician invoices, equipment downtime, and parts costs live in disconnected ERP spreadsheets. Leadership cannot see how much fixing customer issues actually costs until weeks later.</a:t>
            </a:r>
          </a:p>
          <a:p>
            <a:pPr>
              <a:spcBef>
                <a:spcPts val="1400"/>
              </a:spcBef>
              <a:defRPr sz="850" b="1">
                <a:solidFill>
                  <a:srgbClr val="91C9FF"/>
                </a:solidFill>
                <a:latin typeface="IBM Plex Mono"/>
              </a:defRPr>
            </a:pPr>
            <a:r>
              <a:t>MITIGATION:</a:t>
            </a:r>
          </a:p>
          <a:p>
            <a:pPr>
              <a:spcBef>
                <a:spcPts val="300"/>
              </a:spcBef>
              <a:defRPr sz="1000">
                <a:solidFill>
                  <a:srgbClr val="F4F6FC"/>
                </a:solidFill>
                <a:latin typeface="Inter"/>
              </a:defRPr>
            </a:pPr>
            <a:r>
              <a:t>Live itemized tracking of technician hours ($180-$980) and parts costs ($200-$870) aggregated into Daily ($3.9k), Weekly ($18.4k), and Monthly ($64.2k) boardroom-ready PDF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F"/>
          </a:solidFill>
          <a:ln>
            <a:solidFill>
              <a:srgbClr val="08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1C9FF"/>
                </a:solidFill>
                <a:latin typeface="IBM Plex Mono"/>
              </a:defRPr>
            </a:pPr>
            <a:r>
              <a:t>VOX / RETAIL INTELLIGENCE  •  UNIQUE SELLING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C"/>
                </a:solidFill>
                <a:latin typeface="Space Grotesk"/>
              </a:defRPr>
            </a:pPr>
            <a:r>
              <a:t>Voice of Store connects what customers report to where the problem exists, who owns it, and what happens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62D3C"/>
          </a:solidFill>
          <a:ln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393192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78FF"/>
                </a:solidFill>
                <a:latin typeface="IBM Plex Mono"/>
              </a:defRPr>
            </a:pPr>
            <a:r>
              <a:t>PILLAR 01</a:t>
            </a:r>
          </a:p>
          <a:p>
            <a:pPr>
              <a:spcBef>
                <a:spcPts val="400"/>
              </a:spcBef>
              <a:defRPr sz="1700" b="1">
                <a:solidFill>
                  <a:srgbClr val="F4F6FC"/>
                </a:solidFill>
                <a:latin typeface="Space Grotesk"/>
              </a:defRPr>
            </a:pPr>
            <a:r>
              <a:t>CONVERSATIONAL INTELLIGENCE</a:t>
            </a:r>
          </a:p>
          <a:p>
            <a:pPr>
              <a:spcBef>
                <a:spcPts val="400"/>
              </a:spcBef>
              <a:defRPr sz="1100" i="1">
                <a:solidFill>
                  <a:srgbClr val="91C9FF"/>
                </a:solidFill>
                <a:latin typeface="Space Grotesk"/>
              </a:defRPr>
            </a:pPr>
            <a:r>
              <a:t>Gemini 2.0 Flash Copilot</a:t>
            </a:r>
          </a:p>
          <a:p>
            <a:pPr>
              <a:spcBef>
                <a:spcPts val="1200"/>
              </a:spcBef>
              <a:defRPr sz="1050">
                <a:solidFill>
                  <a:srgbClr val="939BAD"/>
                </a:solidFill>
                <a:latin typeface="Inter"/>
              </a:defRPr>
            </a:pPr>
            <a:r>
              <a:t>Voice-first operational chief-of-staff providing crisp 2-3 sentence briefings. Natural speech recognition and voice synthesis with instant live telemetry refresh.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393192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4592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1C9FF"/>
                </a:solidFill>
                <a:latin typeface="IBM Plex Mono"/>
              </a:defRPr>
            </a:pPr>
            <a:r>
              <a:t>PILLAR 02</a:t>
            </a:r>
          </a:p>
          <a:p>
            <a:pPr>
              <a:spcBef>
                <a:spcPts val="400"/>
              </a:spcBef>
              <a:defRPr sz="1700" b="1">
                <a:solidFill>
                  <a:srgbClr val="F4F6FC"/>
                </a:solidFill>
                <a:latin typeface="Space Grotesk"/>
              </a:defRPr>
            </a:pPr>
            <a:r>
              <a:t>SPATIAL STORE INTELLIGENCE</a:t>
            </a:r>
          </a:p>
          <a:p>
            <a:pPr>
              <a:spcBef>
                <a:spcPts val="400"/>
              </a:spcBef>
              <a:defRPr sz="1100" i="1">
                <a:solidFill>
                  <a:srgbClr val="91C9FF"/>
                </a:solidFill>
                <a:latin typeface="Space Grotesk"/>
              </a:defRPr>
            </a:pPr>
            <a:r>
              <a:t>3D Physical Digital Twin</a:t>
            </a:r>
          </a:p>
          <a:p>
            <a:pPr>
              <a:spcBef>
                <a:spcPts val="1200"/>
              </a:spcBef>
              <a:defRPr sz="1050">
                <a:solidFill>
                  <a:srgbClr val="939BAD"/>
                </a:solidFill>
                <a:latin typeface="Inter"/>
              </a:defRPr>
            </a:pPr>
            <a:r>
              <a:t>Translates raw complaint logs into physical 3D store reality. Flashing equipment beacons reveal failure locations in Bakery, Cold Storage, POS, and HVAC zones.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393192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4592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C79FF"/>
                </a:solidFill>
                <a:latin typeface="IBM Plex Mono"/>
              </a:defRPr>
            </a:pPr>
            <a:r>
              <a:t>PILLAR 03</a:t>
            </a:r>
          </a:p>
          <a:p>
            <a:pPr>
              <a:spcBef>
                <a:spcPts val="400"/>
              </a:spcBef>
              <a:defRPr sz="1700" b="1">
                <a:solidFill>
                  <a:srgbClr val="F4F6FC"/>
                </a:solidFill>
                <a:latin typeface="Space Grotesk"/>
              </a:defRPr>
            </a:pPr>
            <a:r>
              <a:t>CLOSED-LOOP OPERATIONS</a:t>
            </a:r>
          </a:p>
          <a:p>
            <a:pPr>
              <a:spcBef>
                <a:spcPts val="400"/>
              </a:spcBef>
              <a:defRPr sz="1100" i="1">
                <a:solidFill>
                  <a:srgbClr val="91C9FF"/>
                </a:solidFill>
                <a:latin typeface="Space Grotesk"/>
              </a:defRPr>
            </a:pPr>
            <a:r>
              <a:t>Autonomous Protocol &amp; Audit</a:t>
            </a:r>
          </a:p>
          <a:p>
            <a:pPr>
              <a:spcBef>
                <a:spcPts val="1200"/>
              </a:spcBef>
              <a:defRPr sz="1050">
                <a:solidFill>
                  <a:srgbClr val="939BAD"/>
                </a:solidFill>
                <a:latin typeface="Inter"/>
              </a:defRPr>
            </a:pPr>
            <a:r>
              <a:t>From signal detection to POS barcode lockdown, containment runbooks, itemized maintenance expenses, and 1-click boardroom-certified A4 PDF audit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71C26"/>
          </a:solidFill>
          <a:ln w="12700">
            <a:solidFill>
              <a:srgbClr val="4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65099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778FF"/>
                </a:solidFill>
                <a:latin typeface="IBM Plex Mono"/>
              </a:defRPr>
            </a:pPr>
            <a:r>
              <a:t>SIGNATURE VALUE WORKFLOW</a:t>
            </a:r>
          </a:p>
          <a:p>
            <a:pPr>
              <a:spcBef>
                <a:spcPts val="300"/>
              </a:spcBef>
              <a:defRPr sz="1150" b="1">
                <a:solidFill>
                  <a:srgbClr val="F4F6FC"/>
                </a:solidFill>
                <a:latin typeface="Space Grotesk"/>
              </a:defRPr>
            </a:pPr>
            <a:r>
              <a:t>HEAR (Voice AI)  ──►  LOCATE (3D Twin)  ──►  PRIORITIZE (Severity Engine)  ──►  ACT (Runbooks)  ──►  MEASURE (Financial Audit)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F"/>
          </a:solidFill>
          <a:ln>
            <a:solidFill>
              <a:srgbClr val="080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1C9FF"/>
                </a:solidFill>
                <a:latin typeface="IBM Plex Mono"/>
              </a:defRPr>
            </a:pPr>
            <a:r>
              <a:t>VOX / RETAIL INTELLIGENCE  •  DEMO &amp; POC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C"/>
                </a:solidFill>
                <a:latin typeface="Space Grotesk"/>
              </a:defRPr>
            </a:pPr>
            <a:r>
              <a:t>From a customer signal to an operational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62D3C"/>
          </a:solidFill>
          <a:ln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949440" cy="4023360"/>
          </a:xfrm>
          <a:prstGeom prst="roundRect">
            <a:avLst/>
          </a:prstGeom>
          <a:solidFill>
            <a:srgbClr val="11151D"/>
          </a:solidFill>
          <a:ln w="12700">
            <a:solidFill>
              <a:srgbClr val="4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F6FC"/>
                </a:solidFill>
                <a:latin typeface="Space Grotesk"/>
              </a:defRPr>
            </a:pPr>
            <a:r>
              <a:t>▶  [VOICE OF STORE DEMO VIDEO]</a:t>
            </a:r>
          </a:p>
          <a:p>
            <a:pPr algn="ctr">
              <a:spcBef>
                <a:spcPts val="800"/>
              </a:spcBef>
              <a:defRPr sz="1100">
                <a:solidFill>
                  <a:srgbClr val="91C9FF"/>
                </a:solidFill>
                <a:latin typeface="Inter"/>
              </a:defRPr>
            </a:pPr>
            <a:r>
              <a:t>Watch the end-to-end incident triage: Customer allergen signal ➔ Voice Copilot query ➔ 3D twin pin ➔ POS lock</a:t>
            </a:r>
          </a:p>
          <a:p>
            <a:pPr algn="ctr">
              <a:spcBef>
                <a:spcPts val="600"/>
              </a:spcBef>
              <a:defRPr sz="950">
                <a:solidFill>
                  <a:srgbClr val="939BAD"/>
                </a:solidFill>
                <a:latin typeface="IBM Plex Mono"/>
              </a:defRPr>
            </a:pPr>
            <a:r>
              <a:t>Video Asset: gemini_generated_video_6d31b3fd.mp4 (2.1 MB Ultra-HD Presentation MP4)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596335" cy="1243584"/>
          </a:xfrm>
          <a:prstGeom prst="roundRect">
            <a:avLst/>
          </a:prstGeom>
          <a:solidFill>
            <a:srgbClr val="171C26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778FF"/>
                </a:solidFill>
                <a:latin typeface="IBM Plex Mono"/>
              </a:defRPr>
            </a:pPr>
            <a:r>
              <a:t>AI COPILOT (/dashboard)</a:t>
            </a:r>
          </a:p>
          <a:p>
            <a:pPr>
              <a:spcBef>
                <a:spcPts val="400"/>
              </a:spcBef>
              <a:defRPr sz="950">
                <a:solidFill>
                  <a:srgbClr val="F4F6FC"/>
                </a:solidFill>
                <a:latin typeface="Inter"/>
              </a:defRPr>
            </a:pPr>
            <a:r>
              <a:t>Spline 3D Core with conversational voice input &amp; live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816352"/>
            <a:ext cx="3596335" cy="1243584"/>
          </a:xfrm>
          <a:prstGeom prst="roundRect">
            <a:avLst/>
          </a:prstGeom>
          <a:solidFill>
            <a:srgbClr val="171C26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90779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1C9FF"/>
                </a:solidFill>
                <a:latin typeface="IBM Plex Mono"/>
              </a:defRPr>
            </a:pPr>
            <a:r>
              <a:t>3D STORE TWIN (/environment)</a:t>
            </a:r>
          </a:p>
          <a:p>
            <a:pPr>
              <a:spcBef>
                <a:spcPts val="400"/>
              </a:spcBef>
              <a:defRPr sz="950">
                <a:solidFill>
                  <a:srgbClr val="F4F6FC"/>
                </a:solidFill>
                <a:latin typeface="Inter"/>
              </a:defRPr>
            </a:pPr>
            <a:r>
              <a:t>Spatial store layout with equipment IoT incident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169664"/>
            <a:ext cx="3596335" cy="1243584"/>
          </a:xfrm>
          <a:prstGeom prst="roundRect">
            <a:avLst/>
          </a:prstGeom>
          <a:solidFill>
            <a:srgbClr val="171C26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261104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8C79FF"/>
                </a:solidFill>
                <a:latin typeface="IBM Plex Mono"/>
              </a:defRPr>
            </a:pPr>
            <a:r>
              <a:t>FEEDBACK ENGINE (/app-dashboard)</a:t>
            </a:r>
          </a:p>
          <a:p>
            <a:pPr>
              <a:spcBef>
                <a:spcPts val="400"/>
              </a:spcBef>
              <a:defRPr sz="950">
                <a:solidFill>
                  <a:srgbClr val="F4F6FC"/>
                </a:solidFill>
                <a:latin typeface="Inter"/>
              </a:defRPr>
            </a:pPr>
            <a:r>
              <a:t>Sector intelligence matrix &amp; full-white PDF audit export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71C26"/>
          </a:solidFill>
          <a:ln w="12700">
            <a:solidFill>
              <a:srgbClr val="26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1C9FF"/>
                </a:solidFill>
                <a:latin typeface="IBM Plex Mono"/>
              </a:defRPr>
            </a:pPr>
            <a:r>
              <a:t>DEMO WALKTHROUGH SEQUENCE:  Ask Voice AI  ──►  Detect Incident  ──►  Locate in 3D  ──►  Route Sector  ──►  Resolve  ──►  Export PDF</a:t>
            </a:r>
          </a:p>
          <a:p>
            <a:pPr>
              <a:spcBef>
                <a:spcPts val="300"/>
              </a:spcBef>
              <a:defRPr sz="1100" b="1">
                <a:solidFill>
                  <a:srgbClr val="F4F6FC"/>
                </a:solidFill>
                <a:latin typeface="Space Grotesk"/>
              </a:defRPr>
            </a:pPr>
            <a:r>
              <a:t>LIVE DEMO REPOSITORY / URL:  http://localhost:8080  |  [INSERT PRODUCTION URL OR GITHUB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